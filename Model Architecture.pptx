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9" r:id="rId4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01A6FD-CDA7-41E4-91C4-394D3CE29E56}"/>
              </a:ext>
            </a:extLst>
          </p:cNvPr>
          <p:cNvSpPr>
            <a:spLocks noGrp="1"/>
          </p:cNvSpPr>
          <p:nvPr/>
        </p:nvSpPr>
        <p:spPr>
          <a:xfrm>
            <a:off x="1257300" y="352425"/>
            <a:ext cx="13287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lang="en-US" sz="2700" b="1" dirty="0">
                <a:solidFill>
                  <a:srgbClr val="111827"/>
                </a:solidFill>
              </a:rPr>
              <a:t>Main model Architecture</a:t>
            </a:r>
            <a:endParaRPr sz="2700" b="1" dirty="0">
              <a:solidFill>
                <a:srgbClr val="1118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5518A-1F1C-41C4-8355-337C8FEE2636}"/>
              </a:ext>
            </a:extLst>
          </p:cNvPr>
          <p:cNvSpPr>
            <a:spLocks noGrp="1"/>
          </p:cNvSpPr>
          <p:nvPr/>
        </p:nvSpPr>
        <p:spPr>
          <a:xfrm>
            <a:off x="1257300" y="866775"/>
            <a:ext cx="13287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The ensemble keeps the accurate context model dominant while adding independent model diversity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D49AC1A-A832-4D58-B888-F809E155BF75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4135100" cy="0"/>
          </a:xfrm>
          <a:prstGeom prst="line">
            <a:avLst/>
          </a:prstGeom>
          <a:noFill/>
          <a:ln w="9525">
            <a:solidFill>
              <a:srgbClr val="AEB7C2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EC535E-EB7A-4F16-AE63-E788ED728279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2667000" cy="1714500"/>
          </a:xfrm>
          <a:prstGeom prst="roundRect">
            <a:avLst>
              <a:gd name="adj" fmla="val 7778"/>
            </a:avLst>
          </a:prstGeom>
          <a:solidFill>
            <a:srgbClr val="F1F3F5"/>
          </a:solidFill>
          <a:ln w="19050">
            <a:solidFill>
              <a:srgbClr val="AEB7C2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Processed feature matrix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All 42 logical features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including date, lane, load, calendar and market context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A71FE6-1210-421F-B7A4-4B7F428135A5}"/>
              </a:ext>
            </a:extLst>
          </p:cNvPr>
          <p:cNvSpPr>
            <a:spLocks noGrp="1"/>
          </p:cNvSpPr>
          <p:nvPr/>
        </p:nvSpPr>
        <p:spPr>
          <a:xfrm>
            <a:off x="4095749" y="1524000"/>
            <a:ext cx="3381375" cy="1381125"/>
          </a:xfrm>
          <a:prstGeom prst="roundRect">
            <a:avLst>
              <a:gd name="adj" fmla="val 9655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Context ensemble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Stable + quote-aware residual structure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quote reliability gate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06CC8B-53D4-442C-8B39-3A382F8A03DF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3381375" cy="1571625"/>
          </a:xfrm>
          <a:prstGeom prst="roundRect">
            <a:avLst>
              <a:gd name="adj" fmla="val 8485"/>
            </a:avLst>
          </a:prstGeom>
          <a:solidFill>
            <a:srgbClr val="FFF1CF"/>
          </a:solidFill>
          <a:ln w="19050">
            <a:solidFill>
              <a:srgbClr val="B57912"/>
            </a:solidFill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Direct histogram boosting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Absolute-error loss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1000 iterations • LR .04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15 leaves • min leaf 30 • L2 3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Direct RPM prediction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362594-C352-473A-A4FD-4A82CC03ABAB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3381375" cy="1571625"/>
          </a:xfrm>
          <a:prstGeom prst="roundRect">
            <a:avLst>
              <a:gd name="adj" fmla="val 8485"/>
            </a:avLst>
          </a:prstGeom>
          <a:solidFill>
            <a:srgbClr val="FCE7EC"/>
          </a:solidFill>
          <a:ln w="19050">
            <a:solidFill>
              <a:srgbClr val="B34A62"/>
            </a:solidFill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Random forest bagging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500 decision trees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min leaf 10 • max features .8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parallel training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Average tree RPM predictions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B4EC42-0B33-48CF-9D50-60456B0668BA}"/>
              </a:ext>
            </a:extLst>
          </p:cNvPr>
          <p:cNvSpPr>
            <a:spLocks noGrp="1"/>
          </p:cNvSpPr>
          <p:nvPr/>
        </p:nvSpPr>
        <p:spPr>
          <a:xfrm>
            <a:off x="8239125" y="1857375"/>
            <a:ext cx="1190625" cy="666750"/>
          </a:xfrm>
          <a:prstGeom prst="roundRect">
            <a:avLst>
              <a:gd name="adj" fmla="val 20000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× 0.65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0AD792-1CEB-4628-8A44-DB826217BABB}"/>
              </a:ext>
            </a:extLst>
          </p:cNvPr>
          <p:cNvSpPr>
            <a:spLocks noGrp="1"/>
          </p:cNvSpPr>
          <p:nvPr/>
        </p:nvSpPr>
        <p:spPr>
          <a:xfrm>
            <a:off x="8239125" y="3781425"/>
            <a:ext cx="1190625" cy="666750"/>
          </a:xfrm>
          <a:prstGeom prst="roundRect">
            <a:avLst>
              <a:gd name="adj" fmla="val 20000"/>
            </a:avLst>
          </a:prstGeom>
          <a:solidFill>
            <a:srgbClr val="FFF1CF"/>
          </a:solidFill>
          <a:ln w="19050">
            <a:solidFill>
              <a:srgbClr val="B57912"/>
            </a:solidFill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× 0.10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1A8263-453A-4AF7-B8CB-74F0DD43A8E3}"/>
              </a:ext>
            </a:extLst>
          </p:cNvPr>
          <p:cNvSpPr>
            <a:spLocks noGrp="1"/>
          </p:cNvSpPr>
          <p:nvPr/>
        </p:nvSpPr>
        <p:spPr>
          <a:xfrm>
            <a:off x="8239125" y="5781675"/>
            <a:ext cx="1190625" cy="666750"/>
          </a:xfrm>
          <a:prstGeom prst="roundRect">
            <a:avLst>
              <a:gd name="adj" fmla="val 20000"/>
            </a:avLst>
          </a:prstGeom>
          <a:solidFill>
            <a:srgbClr val="FCE7EC"/>
          </a:solidFill>
          <a:ln w="19050">
            <a:solidFill>
              <a:srgbClr val="B34A62"/>
            </a:solidFill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× 0.25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800858-ED5C-4D1F-9191-970E8030AB80}"/>
              </a:ext>
            </a:extLst>
          </p:cNvPr>
          <p:cNvSpPr>
            <a:spLocks noGrp="1"/>
          </p:cNvSpPr>
          <p:nvPr/>
        </p:nvSpPr>
        <p:spPr>
          <a:xfrm>
            <a:off x="10096500" y="3190875"/>
            <a:ext cx="2428875" cy="1762125"/>
          </a:xfrm>
          <a:prstGeom prst="roundRect">
            <a:avLst>
              <a:gd name="adj" fmla="val 7568"/>
            </a:avLst>
          </a:prstGeom>
          <a:solidFill>
            <a:srgbClr val="E8F5FC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Weighted sum</a:t>
            </a:r>
          </a:p>
          <a:p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0.65 context</a:t>
            </a:r>
          </a:p>
          <a:p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+ 0.10 direct boost</a:t>
            </a:r>
          </a:p>
          <a:p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+ 0.25 random forest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0D76C1-69A9-40AE-858E-DFAEEF8036BE}"/>
              </a:ext>
            </a:extLst>
          </p:cNvPr>
          <p:cNvSpPr>
            <a:spLocks noGrp="1"/>
          </p:cNvSpPr>
          <p:nvPr/>
        </p:nvSpPr>
        <p:spPr>
          <a:xfrm>
            <a:off x="13049250" y="2381250"/>
            <a:ext cx="1762125" cy="1428750"/>
          </a:xfrm>
          <a:prstGeom prst="roundRect">
            <a:avLst>
              <a:gd name="adj" fmla="val 9333"/>
            </a:avLst>
          </a:prstGeom>
          <a:solidFill>
            <a:srgbClr val="F1F3F5"/>
          </a:solidFill>
          <a:ln w="19050">
            <a:solidFill>
              <a:srgbClr val="064A56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Are both signals neutral?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monthly market std = 0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and monthly quote std = 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C44097-E596-48D5-A13B-2A0A376E48FC}"/>
              </a:ext>
            </a:extLst>
          </p:cNvPr>
          <p:cNvSpPr>
            <a:spLocks noGrp="1"/>
          </p:cNvSpPr>
          <p:nvPr/>
        </p:nvSpPr>
        <p:spPr>
          <a:xfrm>
            <a:off x="13049250" y="4333875"/>
            <a:ext cx="1762125" cy="809625"/>
          </a:xfrm>
          <a:prstGeom prst="roundRect">
            <a:avLst>
              <a:gd name="adj" fmla="val 16471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No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weighted sum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47901A-1428-429D-A83A-0BFD6054BA97}"/>
              </a:ext>
            </a:extLst>
          </p:cNvPr>
          <p:cNvSpPr>
            <a:spLocks noGrp="1"/>
          </p:cNvSpPr>
          <p:nvPr/>
        </p:nvSpPr>
        <p:spPr>
          <a:xfrm>
            <a:off x="13049250" y="5715000"/>
            <a:ext cx="1762125" cy="809625"/>
          </a:xfrm>
          <a:prstGeom prst="roundRect">
            <a:avLst>
              <a:gd name="adj" fmla="val 16471"/>
            </a:avLst>
          </a:prstGeom>
          <a:solidFill>
            <a:srgbClr val="FFF1CF"/>
          </a:solidFill>
          <a:ln w="19050">
            <a:solidFill>
              <a:srgbClr val="B57912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Yes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context only</a:t>
            </a:r>
          </a:p>
        </p:txBody>
      </p:sp>
      <p:cxnSp>
        <p:nvCxnSpPr>
          <p:cNvPr id="47" name="Connector: Elbow 46"/>
          <p:cNvCxnSpPr>
            <a:stCxn id="5" idx="3"/>
            <a:endCxn id="6" idx="1"/>
          </p:cNvCxnSpPr>
          <p:nvPr/>
        </p:nvCxnSpPr>
        <p:spPr>
          <a:xfrm flipV="1">
            <a:off x="3238500" y="2214563"/>
            <a:ext cx="857249" cy="1690687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8" name="Connector: Elbow 47"/>
          <p:cNvCxnSpPr>
            <a:stCxn id="5" idx="3"/>
            <a:endCxn id="7" idx="1"/>
          </p:cNvCxnSpPr>
          <p:nvPr/>
        </p:nvCxnSpPr>
        <p:spPr>
          <a:xfrm>
            <a:off x="3238500" y="3905250"/>
            <a:ext cx="857250" cy="21431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9" name="Connector: Elbow 48"/>
          <p:cNvCxnSpPr>
            <a:stCxn id="5" idx="3"/>
            <a:endCxn id="8" idx="1"/>
          </p:cNvCxnSpPr>
          <p:nvPr/>
        </p:nvCxnSpPr>
        <p:spPr>
          <a:xfrm>
            <a:off x="3238500" y="3905250"/>
            <a:ext cx="857250" cy="221456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0" name="Connector: Elbow 49"/>
          <p:cNvCxnSpPr>
            <a:stCxn id="6" idx="3"/>
            <a:endCxn id="9" idx="1"/>
          </p:cNvCxnSpPr>
          <p:nvPr/>
        </p:nvCxnSpPr>
        <p:spPr>
          <a:xfrm flipV="1">
            <a:off x="7477124" y="2190750"/>
            <a:ext cx="762001" cy="2381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1" name="Connector: Elbow 50"/>
          <p:cNvCxnSpPr>
            <a:stCxn id="7" idx="3"/>
            <a:endCxn id="10" idx="1"/>
          </p:cNvCxnSpPr>
          <p:nvPr/>
        </p:nvCxnSpPr>
        <p:spPr>
          <a:xfrm flipV="1">
            <a:off x="7477125" y="4114800"/>
            <a:ext cx="762000" cy="476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2" name="Connector: Elbow 51"/>
          <p:cNvCxnSpPr>
            <a:stCxn id="8" idx="3"/>
            <a:endCxn id="11" idx="1"/>
          </p:cNvCxnSpPr>
          <p:nvPr/>
        </p:nvCxnSpPr>
        <p:spPr>
          <a:xfrm flipV="1">
            <a:off x="7477125" y="6115050"/>
            <a:ext cx="762000" cy="476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3" name="Connector: Elbow 52"/>
          <p:cNvCxnSpPr>
            <a:stCxn id="9" idx="3"/>
            <a:endCxn id="12" idx="1"/>
          </p:cNvCxnSpPr>
          <p:nvPr/>
        </p:nvCxnSpPr>
        <p:spPr>
          <a:xfrm>
            <a:off x="9429750" y="2190750"/>
            <a:ext cx="666750" cy="1881188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4" name="Connector: Elbow 53"/>
          <p:cNvCxnSpPr>
            <a:stCxn id="10" idx="3"/>
            <a:endCxn id="12" idx="1"/>
          </p:cNvCxnSpPr>
          <p:nvPr/>
        </p:nvCxnSpPr>
        <p:spPr>
          <a:xfrm flipV="1">
            <a:off x="9429750" y="4071938"/>
            <a:ext cx="666750" cy="4286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5" name="Connector: Elbow 54"/>
          <p:cNvCxnSpPr>
            <a:stCxn id="11" idx="3"/>
            <a:endCxn id="12" idx="1"/>
          </p:cNvCxnSpPr>
          <p:nvPr/>
        </p:nvCxnSpPr>
        <p:spPr>
          <a:xfrm flipV="1">
            <a:off x="9429750" y="4071938"/>
            <a:ext cx="666750" cy="204311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6" name="Connector: Elbow 55"/>
          <p:cNvCxnSpPr>
            <a:stCxn id="12" idx="3"/>
            <a:endCxn id="13" idx="1"/>
          </p:cNvCxnSpPr>
          <p:nvPr/>
        </p:nvCxnSpPr>
        <p:spPr>
          <a:xfrm flipV="1">
            <a:off x="12525375" y="3095625"/>
            <a:ext cx="523875" cy="97631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7" name="Straight Arrow Connector 56"/>
          <p:cNvCxnSpPr>
            <a:stCxn id="13" idx="2"/>
            <a:endCxn id="14" idx="0"/>
          </p:cNvCxnSpPr>
          <p:nvPr/>
        </p:nvCxnSpPr>
        <p:spPr>
          <a:xfrm>
            <a:off x="13930313" y="3810000"/>
            <a:ext cx="0" cy="523875"/>
          </a:xfrm>
          <a:prstGeom prst="straightConnector1">
            <a:avLst/>
          </a:prstGeom>
          <a:ln w="19050">
            <a:solidFill>
              <a:srgbClr val="3A8D5D"/>
            </a:solidFill>
            <a:prstDash val="solid"/>
            <a:tailEnd type="triangle" w="sm" len="sm"/>
          </a:ln>
        </p:spPr>
      </p:cxnSp>
      <p:cxnSp>
        <p:nvCxnSpPr>
          <p:cNvPr id="59" name="Connector: Elbow 58"/>
          <p:cNvCxnSpPr>
            <a:cxnSpLocks/>
            <a:endCxn id="15" idx="2"/>
          </p:cNvCxnSpPr>
          <p:nvPr/>
        </p:nvCxnSpPr>
        <p:spPr>
          <a:xfrm>
            <a:off x="7477125" y="2814637"/>
            <a:ext cx="6453188" cy="3709988"/>
          </a:xfrm>
          <a:prstGeom prst="bentConnector4">
            <a:avLst>
              <a:gd name="adj1" fmla="val 8339"/>
              <a:gd name="adj2" fmla="val 106162"/>
            </a:avLst>
          </a:prstGeom>
          <a:ln w="19050">
            <a:solidFill>
              <a:srgbClr val="3A8D5D"/>
            </a:solidFill>
            <a:prstDash val="solid"/>
            <a:tailEnd type="triangle" w="sm" len="sm"/>
          </a:ln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C0A3A10-1377-48C9-988A-BF13343F706E}"/>
              </a:ext>
            </a:extLst>
          </p:cNvPr>
          <p:cNvSpPr>
            <a:spLocks noGrp="1"/>
          </p:cNvSpPr>
          <p:nvPr/>
        </p:nvSpPr>
        <p:spPr>
          <a:xfrm>
            <a:off x="12620625" y="40005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A8D5D"/>
                </a:solidFill>
              </a:defRPr>
            </a:pPr>
            <a:r>
              <a:rPr sz="1200" b="1">
                <a:solidFill>
                  <a:srgbClr val="3A8D5D"/>
                </a:solidFill>
              </a:rPr>
              <a:t>Normal signal path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17006C-124A-4663-9D9E-79EDC1081C97}"/>
              </a:ext>
            </a:extLst>
          </p:cNvPr>
          <p:cNvSpPr>
            <a:spLocks noGrp="1"/>
          </p:cNvSpPr>
          <p:nvPr/>
        </p:nvSpPr>
        <p:spPr>
          <a:xfrm>
            <a:off x="13201650" y="53340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B57912"/>
                </a:solidFill>
              </a:defRPr>
            </a:pPr>
            <a:r>
              <a:rPr sz="1200" b="1" dirty="0">
                <a:solidFill>
                  <a:srgbClr val="B57912"/>
                </a:solidFill>
              </a:rPr>
              <a:t>Missing-signal path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2B0DDF-7329-4258-BFE1-8541D70D2A95}"/>
              </a:ext>
            </a:extLst>
          </p:cNvPr>
          <p:cNvSpPr>
            <a:spLocks noGrp="1"/>
          </p:cNvSpPr>
          <p:nvPr/>
        </p:nvSpPr>
        <p:spPr>
          <a:xfrm>
            <a:off x="552450" y="8096250"/>
            <a:ext cx="1413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The signal gate prevents median-filled December rows from using unreliable direct and bagged signal relationships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FA4C995-53E0-6609-6BB8-A05EACA2A647}"/>
              </a:ext>
            </a:extLst>
          </p:cNvPr>
          <p:cNvCxnSpPr>
            <a:cxnSpLocks/>
            <a:stCxn id="15" idx="3"/>
            <a:endCxn id="13" idx="3"/>
          </p:cNvCxnSpPr>
          <p:nvPr/>
        </p:nvCxnSpPr>
        <p:spPr>
          <a:xfrm flipV="1">
            <a:off x="14811375" y="3095625"/>
            <a:ext cx="12700" cy="3024188"/>
          </a:xfrm>
          <a:prstGeom prst="bentConnector3">
            <a:avLst>
              <a:gd name="adj1" fmla="val 180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509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61253-CBFA-40F1-B291-77414B762C3D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13287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11827"/>
                </a:solidFill>
              </a:defRPr>
            </a:pPr>
            <a:r>
              <a:rPr lang="en-US" sz="2700" b="1" dirty="0">
                <a:solidFill>
                  <a:srgbClr val="111827"/>
                </a:solidFill>
              </a:rPr>
              <a:t>Context </a:t>
            </a:r>
            <a:r>
              <a:rPr lang="en-US" sz="2800" dirty="0">
                <a:solidFill>
                  <a:srgbClr val="111827"/>
                </a:solidFill>
              </a:rPr>
              <a:t>ensemble</a:t>
            </a:r>
            <a:r>
              <a:rPr lang="en-US" sz="2700" b="1" dirty="0">
                <a:solidFill>
                  <a:srgbClr val="111827"/>
                </a:solidFill>
              </a:rPr>
              <a:t> details</a:t>
            </a:r>
            <a:endParaRPr sz="2700" b="1" dirty="0">
              <a:solidFill>
                <a:srgbClr val="1118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2B20C5-85ED-420D-88A1-0586DF1F482A}"/>
              </a:ext>
            </a:extLst>
          </p:cNvPr>
          <p:cNvSpPr>
            <a:spLocks noGrp="1"/>
          </p:cNvSpPr>
          <p:nvPr/>
        </p:nvSpPr>
        <p:spPr>
          <a:xfrm>
            <a:off x="1257300" y="866775"/>
            <a:ext cx="13287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 dirty="0">
                <a:solidFill>
                  <a:srgbClr val="52606D"/>
                </a:solidFill>
              </a:rPr>
              <a:t>Two parallel residual models differ only in whether row-level quote features are allowed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3FD006C-EF54-49E4-899F-B1064C38C378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4135100" cy="0"/>
          </a:xfrm>
          <a:prstGeom prst="line">
            <a:avLst/>
          </a:prstGeom>
          <a:noFill/>
          <a:ln w="9525">
            <a:solidFill>
              <a:srgbClr val="AEB7C2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818CE2-4984-4722-8C1B-3F208A6E6539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2238375" cy="1619250"/>
          </a:xfrm>
          <a:prstGeom prst="roundRect">
            <a:avLst>
              <a:gd name="adj" fmla="val 8235"/>
            </a:avLst>
          </a:prstGeom>
          <a:solidFill>
            <a:srgbClr val="F1F3F5"/>
          </a:solidFill>
          <a:ln w="19050">
            <a:solidFill>
              <a:srgbClr val="AEB7C2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Processed features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Date and daily context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lane and load features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calendar and signal context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13A0BF-6F4D-48AF-BC87-DE9BEFB456FF}"/>
              </a:ext>
            </a:extLst>
          </p:cNvPr>
          <p:cNvSpPr>
            <a:spLocks noGrp="1"/>
          </p:cNvSpPr>
          <p:nvPr/>
        </p:nvSpPr>
        <p:spPr>
          <a:xfrm>
            <a:off x="3429000" y="1714500"/>
            <a:ext cx="2714625" cy="857250"/>
          </a:xfrm>
          <a:prstGeom prst="roundRect">
            <a:avLst>
              <a:gd name="adj" fmla="val 15556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Stable context model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Excludes row-level quote features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EBEB1F-C1DC-47BB-BF4C-1A1750CC0068}"/>
              </a:ext>
            </a:extLst>
          </p:cNvPr>
          <p:cNvSpPr>
            <a:spLocks noGrp="1"/>
          </p:cNvSpPr>
          <p:nvPr/>
        </p:nvSpPr>
        <p:spPr>
          <a:xfrm>
            <a:off x="3429000" y="5429250"/>
            <a:ext cx="2714625" cy="857250"/>
          </a:xfrm>
          <a:prstGeom prst="roundRect">
            <a:avLst>
              <a:gd name="adj" fmla="val 15556"/>
            </a:avLst>
          </a:prstGeom>
          <a:solidFill>
            <a:srgbClr val="E8F5FC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Quote-aware context model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Includes row-level quote features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70167C-304A-46AA-9892-1095F1499B54}"/>
              </a:ext>
            </a:extLst>
          </p:cNvPr>
          <p:cNvSpPr>
            <a:spLocks noGrp="1"/>
          </p:cNvSpPr>
          <p:nvPr/>
        </p:nvSpPr>
        <p:spPr>
          <a:xfrm>
            <a:off x="6762750" y="1476375"/>
            <a:ext cx="3619500" cy="1476375"/>
          </a:xfrm>
          <a:prstGeom prst="roundRect">
            <a:avLst>
              <a:gd name="adj" fmla="val 9032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Daily baseline HGB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Input: date ordinal + daily market and quote mean and median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Target: 15% trimmed daily mean RPM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 dirty="0">
                <a:solidFill>
                  <a:srgbClr val="111827"/>
                </a:solidFill>
              </a:rPr>
              <a:t>300 iter • LR .04 • 7 leaves • L2 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195683-DB77-41B2-9C3F-53D01F2DE884}"/>
              </a:ext>
            </a:extLst>
          </p:cNvPr>
          <p:cNvSpPr>
            <a:spLocks noGrp="1"/>
          </p:cNvSpPr>
          <p:nvPr/>
        </p:nvSpPr>
        <p:spPr>
          <a:xfrm>
            <a:off x="6762750" y="3190875"/>
            <a:ext cx="3619500" cy="1714500"/>
          </a:xfrm>
          <a:prstGeom prst="roundRect">
            <a:avLst>
              <a:gd name="adj" fmla="val 7778"/>
            </a:avLst>
          </a:prstGeom>
          <a:solidFill>
            <a:srgbClr val="F1F3F5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Stable residual HGB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Target: row RPM − daily baseline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No raw date trend, month, day of year or weekday one-hot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No row quote features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2492 iter • LR .06 • 10 leaves • min leaf 30 • L2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F04DE8-1508-4DE1-BA34-225299F425C3}"/>
              </a:ext>
            </a:extLst>
          </p:cNvPr>
          <p:cNvSpPr>
            <a:spLocks noGrp="1"/>
          </p:cNvSpPr>
          <p:nvPr/>
        </p:nvSpPr>
        <p:spPr>
          <a:xfrm>
            <a:off x="6762750" y="5286375"/>
            <a:ext cx="3619500" cy="1190625"/>
          </a:xfrm>
          <a:prstGeom prst="roundRect">
            <a:avLst>
              <a:gd name="adj" fmla="val 11200"/>
            </a:avLst>
          </a:prstGeom>
          <a:solidFill>
            <a:srgbClr val="E8F5FC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Daily baseline HGB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Same daily context inputs and trimmed target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300 iter • LR .04 • 7 leaves • L2 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3A124F-9191-4486-80B0-CBF20491EECB}"/>
              </a:ext>
            </a:extLst>
          </p:cNvPr>
          <p:cNvSpPr>
            <a:spLocks noGrp="1"/>
          </p:cNvSpPr>
          <p:nvPr/>
        </p:nvSpPr>
        <p:spPr>
          <a:xfrm>
            <a:off x="6762750" y="6667500"/>
            <a:ext cx="3619500" cy="1285875"/>
          </a:xfrm>
          <a:prstGeom prst="roundRect">
            <a:avLst>
              <a:gd name="adj" fmla="val 10370"/>
            </a:avLst>
          </a:prstGeom>
          <a:solidFill>
            <a:srgbClr val="F1F3F5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Quote-aware residual HGB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Target: row RPM − daily baseline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Uses row quote signal and deviations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2492 iter • LR .06 • 10 leaves • min leaf 30 • L2 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381E55-79D5-4B23-B5DD-04395F6518E5}"/>
              </a:ext>
            </a:extLst>
          </p:cNvPr>
          <p:cNvSpPr>
            <a:spLocks noGrp="1"/>
          </p:cNvSpPr>
          <p:nvPr/>
        </p:nvSpPr>
        <p:spPr>
          <a:xfrm>
            <a:off x="11049000" y="2428875"/>
            <a:ext cx="2047875" cy="952500"/>
          </a:xfrm>
          <a:prstGeom prst="roundRect">
            <a:avLst>
              <a:gd name="adj" fmla="val 14000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Stable forecast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daily baseline + residual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8B65AF-8965-4B6F-9F3D-D8E680E47BC3}"/>
              </a:ext>
            </a:extLst>
          </p:cNvPr>
          <p:cNvSpPr>
            <a:spLocks noGrp="1"/>
          </p:cNvSpPr>
          <p:nvPr/>
        </p:nvSpPr>
        <p:spPr>
          <a:xfrm>
            <a:off x="11049000" y="5715000"/>
            <a:ext cx="2047875" cy="952500"/>
          </a:xfrm>
          <a:prstGeom prst="roundRect">
            <a:avLst>
              <a:gd name="adj" fmla="val 14000"/>
            </a:avLst>
          </a:prstGeom>
          <a:solidFill>
            <a:srgbClr val="E8F5FC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Quote-aware forecast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daily baseline + residual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DA6BC8-A4F7-429E-B6B4-EE0F0D4BD17C}"/>
              </a:ext>
            </a:extLst>
          </p:cNvPr>
          <p:cNvSpPr>
            <a:spLocks noGrp="1"/>
          </p:cNvSpPr>
          <p:nvPr/>
        </p:nvSpPr>
        <p:spPr>
          <a:xfrm>
            <a:off x="13239750" y="3524250"/>
            <a:ext cx="1762125" cy="1809750"/>
          </a:xfrm>
          <a:prstGeom prst="roundRect">
            <a:avLst>
              <a:gd name="adj" fmla="val 7568"/>
            </a:avLst>
          </a:prstGeom>
          <a:solidFill>
            <a:srgbClr val="FFF1CF"/>
          </a:solidFill>
          <a:ln w="19050">
            <a:solidFill>
              <a:srgbClr val="B57912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Quote reliability gate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w = clip((monthly quote std − .245) / .005, 0, 1)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context = (1 − w) stable + w quote-aware</a:t>
            </a:r>
          </a:p>
        </p:txBody>
      </p:sp>
      <p:cxnSp>
        <p:nvCxnSpPr>
          <p:cNvPr id="45" name="Connector: Elbow 44"/>
          <p:cNvCxnSpPr>
            <a:stCxn id="5" idx="3"/>
            <a:endCxn id="6" idx="1"/>
          </p:cNvCxnSpPr>
          <p:nvPr/>
        </p:nvCxnSpPr>
        <p:spPr>
          <a:xfrm flipV="1">
            <a:off x="2809875" y="2143125"/>
            <a:ext cx="619125" cy="1809750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6" name="Connector: Elbow 45"/>
          <p:cNvCxnSpPr>
            <a:stCxn id="5" idx="3"/>
            <a:endCxn id="7" idx="1"/>
          </p:cNvCxnSpPr>
          <p:nvPr/>
        </p:nvCxnSpPr>
        <p:spPr>
          <a:xfrm>
            <a:off x="2809875" y="3952875"/>
            <a:ext cx="619125" cy="1905000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7" name="Connector: Elbow 46"/>
          <p:cNvCxnSpPr>
            <a:stCxn id="6" idx="3"/>
            <a:endCxn id="8" idx="1"/>
          </p:cNvCxnSpPr>
          <p:nvPr/>
        </p:nvCxnSpPr>
        <p:spPr>
          <a:xfrm>
            <a:off x="6143625" y="2143125"/>
            <a:ext cx="619125" cy="71438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8" name="Connector: Elbow 47"/>
          <p:cNvCxnSpPr>
            <a:stCxn id="6" idx="3"/>
            <a:endCxn id="9" idx="1"/>
          </p:cNvCxnSpPr>
          <p:nvPr/>
        </p:nvCxnSpPr>
        <p:spPr>
          <a:xfrm>
            <a:off x="6143625" y="2143125"/>
            <a:ext cx="619125" cy="1905000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9" name="Connector: Elbow 48"/>
          <p:cNvCxnSpPr>
            <a:stCxn id="7" idx="3"/>
            <a:endCxn id="10" idx="1"/>
          </p:cNvCxnSpPr>
          <p:nvPr/>
        </p:nvCxnSpPr>
        <p:spPr>
          <a:xfrm>
            <a:off x="6143625" y="5857875"/>
            <a:ext cx="619125" cy="2381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0" name="Connector: Elbow 49"/>
          <p:cNvCxnSpPr>
            <a:stCxn id="7" idx="3"/>
            <a:endCxn id="11" idx="1"/>
          </p:cNvCxnSpPr>
          <p:nvPr/>
        </p:nvCxnSpPr>
        <p:spPr>
          <a:xfrm>
            <a:off x="6143625" y="5857875"/>
            <a:ext cx="619125" cy="145256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1" name="Connector: Elbow 50"/>
          <p:cNvCxnSpPr>
            <a:stCxn id="8" idx="3"/>
            <a:endCxn id="12" idx="1"/>
          </p:cNvCxnSpPr>
          <p:nvPr/>
        </p:nvCxnSpPr>
        <p:spPr>
          <a:xfrm>
            <a:off x="10382250" y="2214563"/>
            <a:ext cx="666750" cy="69056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2" name="Connector: Elbow 51"/>
          <p:cNvCxnSpPr>
            <a:stCxn id="9" idx="3"/>
            <a:endCxn id="12" idx="1"/>
          </p:cNvCxnSpPr>
          <p:nvPr/>
        </p:nvCxnSpPr>
        <p:spPr>
          <a:xfrm flipV="1">
            <a:off x="10382250" y="2905125"/>
            <a:ext cx="666750" cy="1143000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3" name="Connector: Elbow 52"/>
          <p:cNvCxnSpPr>
            <a:stCxn id="10" idx="3"/>
            <a:endCxn id="13" idx="1"/>
          </p:cNvCxnSpPr>
          <p:nvPr/>
        </p:nvCxnSpPr>
        <p:spPr>
          <a:xfrm>
            <a:off x="10382250" y="5881688"/>
            <a:ext cx="666750" cy="309563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4" name="Connector: Elbow 53"/>
          <p:cNvCxnSpPr>
            <a:stCxn id="11" idx="3"/>
            <a:endCxn id="13" idx="1"/>
          </p:cNvCxnSpPr>
          <p:nvPr/>
        </p:nvCxnSpPr>
        <p:spPr>
          <a:xfrm flipV="1">
            <a:off x="10382250" y="6191250"/>
            <a:ext cx="666750" cy="1119188"/>
          </a:xfrm>
          <a:prstGeom prst="bentConnector3">
            <a:avLst>
              <a:gd name="adj1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5" name="Connector: Elbow 54"/>
          <p:cNvCxnSpPr>
            <a:cxnSpLocks/>
            <a:stCxn id="12" idx="2"/>
            <a:endCxn id="14" idx="1"/>
          </p:cNvCxnSpPr>
          <p:nvPr/>
        </p:nvCxnSpPr>
        <p:spPr>
          <a:xfrm rot="16200000" flipH="1">
            <a:off x="12132469" y="3321844"/>
            <a:ext cx="1047750" cy="1166812"/>
          </a:xfrm>
          <a:prstGeom prst="bentConnector2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56" name="Connector: Elbow 55"/>
          <p:cNvCxnSpPr>
            <a:stCxn id="13" idx="3"/>
            <a:endCxn id="14" idx="1"/>
          </p:cNvCxnSpPr>
          <p:nvPr/>
        </p:nvCxnSpPr>
        <p:spPr>
          <a:xfrm flipV="1">
            <a:off x="13096875" y="4429125"/>
            <a:ext cx="142875" cy="1762125"/>
          </a:xfrm>
          <a:prstGeom prst="bentConnector4">
            <a:avLst>
              <a:gd name="adj1" fmla="val 50000"/>
              <a:gd name="adj2" fmla="val 89459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2D6A82-523E-4E66-AF8F-188376BE3CD5}"/>
              </a:ext>
            </a:extLst>
          </p:cNvPr>
          <p:cNvSpPr>
            <a:spLocks noGrp="1"/>
          </p:cNvSpPr>
          <p:nvPr/>
        </p:nvSpPr>
        <p:spPr>
          <a:xfrm>
            <a:off x="273843" y="6643687"/>
            <a:ext cx="5572125" cy="1476375"/>
          </a:xfrm>
          <a:prstGeom prst="roundRect">
            <a:avLst>
              <a:gd name="adj" fmla="val 9032"/>
            </a:avLst>
          </a:prstGeom>
          <a:solidFill>
            <a:srgbClr val="FCE7EC"/>
          </a:solidFill>
          <a:ln w="19050">
            <a:solidFill>
              <a:srgbClr val="B34A62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Robust sample weights used by both residual models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1  Log-RPM MAD detects extreme rows at z &gt; 2.5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2  Anomaly weight falls toward a minimum of .05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3  Distance weight = sqrt(capped distance / median)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4  Distance is capped at its 95th percentile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5  Final weights are normalized to mean 1</a:t>
            </a:r>
          </a:p>
        </p:txBody>
      </p:sp>
      <p:cxnSp>
        <p:nvCxnSpPr>
          <p:cNvPr id="58" name="Connector: Elbow 57"/>
          <p:cNvCxnSpPr>
            <a:cxnSpLocks/>
          </p:cNvCxnSpPr>
          <p:nvPr/>
        </p:nvCxnSpPr>
        <p:spPr>
          <a:xfrm rot="5400000" flipH="1" flipV="1">
            <a:off x="3702844" y="3512344"/>
            <a:ext cx="2309812" cy="3952874"/>
          </a:xfrm>
          <a:prstGeom prst="bentConnector2">
            <a:avLst/>
          </a:prstGeom>
          <a:ln w="19050">
            <a:solidFill>
              <a:srgbClr val="B34A62"/>
            </a:solidFill>
            <a:prstDash val="solid"/>
            <a:tailEnd type="triangle" w="sm" len="sm"/>
          </a:ln>
        </p:spPr>
      </p:cxnSp>
      <p:cxnSp>
        <p:nvCxnSpPr>
          <p:cNvPr id="59" name="Connector: Elbow 58"/>
          <p:cNvCxnSpPr>
            <a:cxnSpLocks/>
          </p:cNvCxnSpPr>
          <p:nvPr/>
        </p:nvCxnSpPr>
        <p:spPr>
          <a:xfrm>
            <a:off x="5845968" y="7634288"/>
            <a:ext cx="916782" cy="12700"/>
          </a:xfrm>
          <a:prstGeom prst="bentConnector3">
            <a:avLst>
              <a:gd name="adj1" fmla="val 50000"/>
            </a:avLst>
          </a:prstGeom>
          <a:ln w="19050">
            <a:solidFill>
              <a:srgbClr val="B34A62"/>
            </a:solidFill>
            <a:prstDash val="solid"/>
            <a:tailEnd type="triangle" w="sm" len="sm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79AF352-CB2C-48F1-9F31-A5BC5A326A15}"/>
              </a:ext>
            </a:extLst>
          </p:cNvPr>
          <p:cNvSpPr>
            <a:spLocks noGrp="1"/>
          </p:cNvSpPr>
          <p:nvPr/>
        </p:nvSpPr>
        <p:spPr>
          <a:xfrm>
            <a:off x="552450" y="8096250"/>
            <a:ext cx="1413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HGB = HistGradientBoostingRegressor • RPM = rate per mile</a:t>
            </a:r>
          </a:p>
        </p:txBody>
      </p:sp>
    </p:spTree>
    <p:extLst>
      <p:ext uri="{BB962C8B-B14F-4D97-AF65-F5344CB8AC3E}">
        <p14:creationId xmlns:p14="http://schemas.microsoft.com/office/powerpoint/2010/main" val="20098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E7E2C8-B8C6-421F-8C74-494496C6F544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13287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827"/>
                </a:solidFill>
              </a:defRPr>
            </a:pPr>
            <a:r>
              <a:rPr lang="en-US" sz="2700" b="1" dirty="0">
                <a:solidFill>
                  <a:srgbClr val="111827"/>
                </a:solidFill>
              </a:rPr>
              <a:t>Workflow</a:t>
            </a:r>
            <a:endParaRPr sz="2700" b="1" dirty="0">
              <a:solidFill>
                <a:srgbClr val="111827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5D7399-2DFF-462D-8E7F-8D0349FDE970}"/>
              </a:ext>
            </a:extLst>
          </p:cNvPr>
          <p:cNvSpPr>
            <a:spLocks noGrp="1"/>
          </p:cNvSpPr>
          <p:nvPr/>
        </p:nvSpPr>
        <p:spPr>
          <a:xfrm>
            <a:off x="1257300" y="866775"/>
            <a:ext cx="13287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The final validation labels never enter preprocessing, fitting or model selection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D9B903D-4887-43E5-949C-2F865D16CCA4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14135100" cy="0"/>
          </a:xfrm>
          <a:prstGeom prst="line">
            <a:avLst/>
          </a:prstGeom>
          <a:noFill/>
          <a:ln w="9525">
            <a:solidFill>
              <a:srgbClr val="AEB7C2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6B0E6D-009F-4FFF-9C2F-AD1D7356E0EA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F1F3F5"/>
          </a:solidFill>
          <a:ln w="19050">
            <a:solidFill>
              <a:srgbClr val="AEB7C2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48,000 labeled rows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 dirty="0">
                <a:solidFill>
                  <a:srgbClr val="111827"/>
                </a:solidFill>
              </a:rPr>
              <a:t>January through October 2025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42FB02-5BE3-4A34-B3AB-2DE4E49783FF}"/>
              </a:ext>
            </a:extLst>
          </p:cNvPr>
          <p:cNvSpPr>
            <a:spLocks noGrp="1"/>
          </p:cNvSpPr>
          <p:nvPr/>
        </p:nvSpPr>
        <p:spPr>
          <a:xfrm>
            <a:off x="3619500" y="1952625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E8F5FC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Chronological split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38,477 rows: Jan to Aug training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9,523 rows: Sep to Oct testing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A40FFD-DDE7-494C-973C-037D1BE5F63C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2714625" cy="1666875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 w="19050">
            <a:solidFill>
              <a:srgbClr val="AEB7C2"/>
            </a:solidFill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Training-only preprocessing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Coordinate reference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medians and modes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one-hot categories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market context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BF741F-2D4E-4D2C-A261-AE0FEA74536F}"/>
              </a:ext>
            </a:extLst>
          </p:cNvPr>
          <p:cNvSpPr>
            <a:spLocks noGrp="1"/>
          </p:cNvSpPr>
          <p:nvPr/>
        </p:nvSpPr>
        <p:spPr>
          <a:xfrm>
            <a:off x="10525125" y="1952625"/>
            <a:ext cx="2476500" cy="1285875"/>
          </a:xfrm>
          <a:prstGeom prst="roundRect">
            <a:avLst>
              <a:gd name="adj" fmla="val 10370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Fit selected ensemble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Residual depth fixed at 2492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random seed 77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010B5E-FD0D-497E-A162-C527809DE0A0}"/>
              </a:ext>
            </a:extLst>
          </p:cNvPr>
          <p:cNvSpPr>
            <a:spLocks noGrp="1"/>
          </p:cNvSpPr>
          <p:nvPr/>
        </p:nvSpPr>
        <p:spPr>
          <a:xfrm>
            <a:off x="13430250" y="1857375"/>
            <a:ext cx="1476375" cy="1476375"/>
          </a:xfrm>
          <a:prstGeom prst="roundRect">
            <a:avLst>
              <a:gd name="adj" fmla="val 9032"/>
            </a:avLst>
          </a:prstGeom>
          <a:solidFill>
            <a:srgbClr val="FFF1CF"/>
          </a:solidFill>
          <a:ln w="19050">
            <a:solidFill>
              <a:srgbClr val="B57912"/>
            </a:solidFill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Forward evaluation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September MAE 79.411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October MAE 94.991</a:t>
            </a:r>
          </a:p>
          <a:p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 dirty="0">
                <a:solidFill>
                  <a:srgbClr val="111827"/>
                </a:solidFill>
              </a:rPr>
              <a:t>Combined MAE 87.351</a:t>
            </a:r>
          </a:p>
        </p:txBody>
      </p:sp>
      <p:cxnSp>
        <p:nvCxnSpPr>
          <p:cNvPr id="36" name="Straight Arrow Connector 35"/>
          <p:cNvCxnSpPr>
            <a:stCxn id="5" idx="3"/>
            <a:endCxn id="6" idx="1"/>
          </p:cNvCxnSpPr>
          <p:nvPr/>
        </p:nvCxnSpPr>
        <p:spPr>
          <a:xfrm>
            <a:off x="2952750" y="2595563"/>
            <a:ext cx="666750" cy="0"/>
          </a:xfrm>
          <a:prstGeom prst="straightConnector1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37" name="Straight Arrow Connector 36"/>
          <p:cNvCxnSpPr>
            <a:stCxn id="6" idx="3"/>
            <a:endCxn id="7" idx="1"/>
          </p:cNvCxnSpPr>
          <p:nvPr/>
        </p:nvCxnSpPr>
        <p:spPr>
          <a:xfrm>
            <a:off x="6477000" y="2595563"/>
            <a:ext cx="666750" cy="0"/>
          </a:xfrm>
          <a:prstGeom prst="straightConnector1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38" name="Straight Arrow Connector 37"/>
          <p:cNvCxnSpPr>
            <a:stCxn id="7" idx="3"/>
            <a:endCxn id="8" idx="1"/>
          </p:cNvCxnSpPr>
          <p:nvPr/>
        </p:nvCxnSpPr>
        <p:spPr>
          <a:xfrm>
            <a:off x="9858375" y="2595563"/>
            <a:ext cx="666750" cy="0"/>
          </a:xfrm>
          <a:prstGeom prst="straightConnector1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39" name="Straight Arrow Connector 38"/>
          <p:cNvCxnSpPr>
            <a:stCxn id="8" idx="3"/>
            <a:endCxn id="9" idx="1"/>
          </p:cNvCxnSpPr>
          <p:nvPr/>
        </p:nvCxnSpPr>
        <p:spPr>
          <a:xfrm>
            <a:off x="13001625" y="2595563"/>
            <a:ext cx="428625" cy="0"/>
          </a:xfrm>
          <a:prstGeom prst="straightConnector1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EB6162-A1F7-463A-99D3-FE3CA6CEE010}"/>
              </a:ext>
            </a:extLst>
          </p:cNvPr>
          <p:cNvSpPr>
            <a:spLocks noGrp="1"/>
          </p:cNvSpPr>
          <p:nvPr/>
        </p:nvSpPr>
        <p:spPr>
          <a:xfrm>
            <a:off x="6334125" y="4143375"/>
            <a:ext cx="2857500" cy="952500"/>
          </a:xfrm>
          <a:prstGeom prst="roundRect">
            <a:avLst>
              <a:gd name="adj" fmla="val 14000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Configuration approved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Same preprocessing and model design</a:t>
            </a:r>
          </a:p>
        </p:txBody>
      </p:sp>
      <p:cxnSp>
        <p:nvCxnSpPr>
          <p:cNvPr id="41" name="Connector: Elbow 40"/>
          <p:cNvCxnSpPr>
            <a:stCxn id="9" idx="2"/>
            <a:endCxn id="14" idx="0"/>
          </p:cNvCxnSpPr>
          <p:nvPr/>
        </p:nvCxnSpPr>
        <p:spPr>
          <a:xfrm flipH="1">
            <a:off x="7762875" y="3333750"/>
            <a:ext cx="6405563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4A2F2D7-27C0-450D-96A5-376A8F2E20EA}"/>
              </a:ext>
            </a:extLst>
          </p:cNvPr>
          <p:cNvSpPr>
            <a:spLocks noGrp="1"/>
          </p:cNvSpPr>
          <p:nvPr/>
        </p:nvSpPr>
        <p:spPr>
          <a:xfrm>
            <a:off x="2381250" y="6096000"/>
            <a:ext cx="3238500" cy="1238250"/>
          </a:xfrm>
          <a:prstGeom prst="roundRect">
            <a:avLst>
              <a:gd name="adj" fmla="val 10769"/>
            </a:avLst>
          </a:prstGeom>
          <a:solidFill>
            <a:srgbClr val="E8F5FC"/>
          </a:solidFill>
          <a:ln w="19050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refit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Rebuild references and fit preprocessing + ensemble on all 48,000 labeled rows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AF8EDA-676D-4538-83DF-83B057AD0F53}"/>
              </a:ext>
            </a:extLst>
          </p:cNvPr>
          <p:cNvSpPr>
            <a:spLocks noGrp="1"/>
          </p:cNvSpPr>
          <p:nvPr/>
        </p:nvSpPr>
        <p:spPr>
          <a:xfrm>
            <a:off x="6191250" y="6191250"/>
            <a:ext cx="2667000" cy="1047750"/>
          </a:xfrm>
          <a:prstGeom prst="roundRect">
            <a:avLst>
              <a:gd name="adj" fmla="val 12727"/>
            </a:avLst>
          </a:prstGeom>
          <a:solidFill>
            <a:srgbClr val="F1F3F5"/>
          </a:solidFill>
          <a:ln w="19050">
            <a:solidFill>
              <a:srgbClr val="AEB7C2"/>
            </a:solidFill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prediction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12,000 unlabeled rows</a:t>
            </a:r>
          </a:p>
          <a:p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November and December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D7AEB1-F998-45A3-B4BB-7022C9C66E3B}"/>
              </a:ext>
            </a:extLst>
          </p:cNvPr>
          <p:cNvSpPr>
            <a:spLocks noGrp="1"/>
          </p:cNvSpPr>
          <p:nvPr/>
        </p:nvSpPr>
        <p:spPr>
          <a:xfrm>
            <a:off x="9334500" y="5953125"/>
            <a:ext cx="2762250" cy="1524000"/>
          </a:xfrm>
          <a:prstGeom prst="roundRect">
            <a:avLst>
              <a:gd name="adj" fmla="val 8750"/>
            </a:avLst>
          </a:prstGeom>
          <a:solidFill>
            <a:srgbClr val="FFF1CF"/>
          </a:solidFill>
          <a:ln w="19050">
            <a:solidFill>
              <a:srgbClr val="B57912"/>
            </a:solidFill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Fixed December lane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Coordinates from known cities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market and quote medians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signal gate selects context-only path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D4C2A2-496B-446C-B545-612ACE93F913}"/>
              </a:ext>
            </a:extLst>
          </p:cNvPr>
          <p:cNvSpPr>
            <a:spLocks noGrp="1"/>
          </p:cNvSpPr>
          <p:nvPr/>
        </p:nvSpPr>
        <p:spPr>
          <a:xfrm>
            <a:off x="12573000" y="6048375"/>
            <a:ext cx="2333625" cy="1333500"/>
          </a:xfrm>
          <a:prstGeom prst="roundRect">
            <a:avLst>
              <a:gd name="adj" fmla="val 10000"/>
            </a:avLst>
          </a:prstGeom>
          <a:solidFill>
            <a:srgbClr val="DDF3E4"/>
          </a:solidFill>
          <a:ln w="19050">
            <a:solidFill>
              <a:srgbClr val="3A8D5D"/>
            </a:solidFill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Required outputs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validation_predictions.csv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december_predictions.csv</a:t>
            </a:r>
          </a:p>
          <a:p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candidate_december.png</a:t>
            </a:r>
          </a:p>
        </p:txBody>
      </p:sp>
      <p:cxnSp>
        <p:nvCxnSpPr>
          <p:cNvPr id="46" name="Connector: Elbow 45"/>
          <p:cNvCxnSpPr>
            <a:stCxn id="14" idx="2"/>
            <a:endCxn id="16" idx="0"/>
          </p:cNvCxnSpPr>
          <p:nvPr/>
        </p:nvCxnSpPr>
        <p:spPr>
          <a:xfrm flipH="1">
            <a:off x="4000500" y="5095875"/>
            <a:ext cx="3762375" cy="10001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7" name="Straight Arrow Connector 46"/>
          <p:cNvCxnSpPr>
            <a:stCxn id="16" idx="3"/>
            <a:endCxn id="17" idx="1"/>
          </p:cNvCxnSpPr>
          <p:nvPr/>
        </p:nvCxnSpPr>
        <p:spPr>
          <a:xfrm>
            <a:off x="5619750" y="6715125"/>
            <a:ext cx="571500" cy="0"/>
          </a:xfrm>
          <a:prstGeom prst="straightConnector1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8" name="Straight Arrow Connector 47"/>
          <p:cNvCxnSpPr>
            <a:stCxn id="17" idx="3"/>
            <a:endCxn id="18" idx="1"/>
          </p:cNvCxnSpPr>
          <p:nvPr/>
        </p:nvCxnSpPr>
        <p:spPr>
          <a:xfrm>
            <a:off x="8858250" y="6715125"/>
            <a:ext cx="476250" cy="0"/>
          </a:xfrm>
          <a:prstGeom prst="straightConnector1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cxnSp>
        <p:nvCxnSpPr>
          <p:cNvPr id="49" name="Straight Arrow Connector 48"/>
          <p:cNvCxnSpPr>
            <a:stCxn id="18" idx="3"/>
            <a:endCxn id="19" idx="1"/>
          </p:cNvCxnSpPr>
          <p:nvPr/>
        </p:nvCxnSpPr>
        <p:spPr>
          <a:xfrm>
            <a:off x="12096750" y="6715125"/>
            <a:ext cx="476250" cy="0"/>
          </a:xfrm>
          <a:prstGeom prst="straightConnector1">
            <a:avLst/>
          </a:prstGeom>
          <a:ln w="19050">
            <a:solidFill>
              <a:srgbClr val="52606D"/>
            </a:solidFill>
            <a:prstDash val="solid"/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B9A8D-8438-408C-B606-604A00EE1997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Model development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D88A31-9E44-4155-9BCF-459546D930FD}"/>
              </a:ext>
            </a:extLst>
          </p:cNvPr>
          <p:cNvSpPr>
            <a:spLocks noGrp="1"/>
          </p:cNvSpPr>
          <p:nvPr/>
        </p:nvSpPr>
        <p:spPr>
          <a:xfrm>
            <a:off x="571500" y="5476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 dirty="0">
                <a:solidFill>
                  <a:srgbClr val="3D8DFF"/>
                </a:solidFill>
              </a:rPr>
              <a:t>Final production fit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306B98-E3F7-4A87-87C3-CFA793C39F17}"/>
              </a:ext>
            </a:extLst>
          </p:cNvPr>
          <p:cNvSpPr>
            <a:spLocks noGrp="1"/>
          </p:cNvSpPr>
          <p:nvPr/>
        </p:nvSpPr>
        <p:spPr>
          <a:xfrm>
            <a:off x="552450" y="8096250"/>
            <a:ext cx="1413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52606D"/>
                </a:solidFill>
              </a:defRPr>
            </a:pPr>
            <a:r>
              <a:rPr sz="1050" b="0">
                <a:solidFill>
                  <a:srgbClr val="52606D"/>
                </a:solidFill>
              </a:rPr>
              <a:t>Target conversion at every stage: posted rate ÷ distance → model RPM → predicted RPM × distance</a:t>
            </a:r>
          </a:p>
        </p:txBody>
      </p:sp>
    </p:spTree>
    <p:extLst>
      <p:ext uri="{BB962C8B-B14F-4D97-AF65-F5344CB8AC3E}">
        <p14:creationId xmlns:p14="http://schemas.microsoft.com/office/powerpoint/2010/main" val="2104299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588</Words>
  <Application>Microsoft Office PowerPoint</Application>
  <DocSecurity>0</DocSecurity>
  <PresentationFormat>Custom</PresentationFormat>
  <Paragraphs>112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Windows User</cp:lastModifiedBy>
  <cp:revision>2</cp:revision>
  <dcterms:created xsi:type="dcterms:W3CDTF">2026-08-24T18:16:17Z</dcterms:created>
  <dcterms:modified xsi:type="dcterms:W3CDTF">2026-08-24T19:09:05Z</dcterms:modified>
</cp:coreProperties>
</file>